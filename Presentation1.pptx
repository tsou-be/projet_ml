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5"/>
    <p:restoredTop sz="94658"/>
  </p:normalViewPr>
  <p:slideViewPr>
    <p:cSldViewPr snapToGrid="0">
      <p:cViewPr varScale="1">
        <p:scale>
          <a:sx n="120" d="100"/>
          <a:sy n="120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2615-3023-A971-1E0A-CFCEC5A12A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MG" sz="5400" b="1" dirty="0"/>
              <a:t>Student Admission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8AD49-E885-3829-71FB-B44D21949D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MG" dirty="0"/>
              <a:t>resented by Ranty and kooloina </a:t>
            </a:r>
          </a:p>
        </p:txBody>
      </p:sp>
    </p:spTree>
    <p:extLst>
      <p:ext uri="{BB962C8B-B14F-4D97-AF65-F5344CB8AC3E}">
        <p14:creationId xmlns:p14="http://schemas.microsoft.com/office/powerpoint/2010/main" val="418627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FDCA-A21E-F4B0-5E25-F9AC6D56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G" dirty="0"/>
              <a:t>Context and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D059-847A-3D2A-2B4F-AEFE5B997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G" dirty="0"/>
              <a:t>Here we have a dataset about students admission</a:t>
            </a:r>
          </a:p>
          <a:p>
            <a:r>
              <a:rPr lang="en-MG" dirty="0"/>
              <a:t>We suppose that we are the administrator of a uiversity and </a:t>
            </a:r>
            <a:r>
              <a:rPr lang="en-US" dirty="0"/>
              <a:t>want to determine each applicant’s chance of admission based on their results on two exams</a:t>
            </a:r>
          </a:p>
          <a:p>
            <a:r>
              <a:rPr lang="en-US" dirty="0"/>
              <a:t>The goal is to build a logistic regression model using historical applicant data (two exam scores and admission decisions) to predict the probability of admission for new applicants.</a:t>
            </a:r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426602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7363290-AD9C-87D4-9C77-0F1B3075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G" dirty="0"/>
              <a:t>data descriptions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AA3A5E-3AC3-A5C0-5F5A-1F7BD4AE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G" dirty="0"/>
              <a:t>The datasets are divided into X_train and Y_train </a:t>
            </a:r>
          </a:p>
          <a:p>
            <a:r>
              <a:rPr lang="en-US" dirty="0"/>
              <a:t>Training data contains historical records of student applications.</a:t>
            </a:r>
          </a:p>
          <a:p>
            <a:r>
              <a:rPr lang="en-US" dirty="0"/>
              <a:t>Features (X):</a:t>
            </a:r>
          </a:p>
          <a:p>
            <a:pPr marL="0" indent="0">
              <a:buNone/>
            </a:pPr>
            <a:r>
              <a:rPr lang="en-US" dirty="0"/>
              <a:t> Exam 1 score</a:t>
            </a:r>
          </a:p>
          <a:p>
            <a:pPr marL="0" indent="0">
              <a:buNone/>
            </a:pPr>
            <a:r>
              <a:rPr lang="en-US" dirty="0"/>
              <a:t> Exam 2 score</a:t>
            </a:r>
          </a:p>
          <a:p>
            <a:endParaRPr lang="en-US" dirty="0"/>
          </a:p>
          <a:p>
            <a:endParaRPr lang="en-US" dirty="0"/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360828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ACD153-0D63-AB5B-74D4-6B7CF8CB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41413" y="572799"/>
            <a:ext cx="9905998" cy="45719"/>
          </a:xfrm>
        </p:spPr>
        <p:txBody>
          <a:bodyPr>
            <a:normAutofit fontScale="90000"/>
          </a:bodyPr>
          <a:lstStyle/>
          <a:p>
            <a:endParaRPr lang="en-M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395F3-183B-BA27-FFD4-B5442D76A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18518"/>
            <a:ext cx="9905999" cy="51726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Target (y):</a:t>
            </a:r>
          </a:p>
          <a:p>
            <a:pPr marL="0" indent="0">
              <a:buNone/>
            </a:pPr>
            <a:r>
              <a:rPr lang="en-US" dirty="0"/>
              <a:t> 1 → Student admitted</a:t>
            </a:r>
          </a:p>
          <a:p>
            <a:pPr marL="0" indent="0">
              <a:buNone/>
            </a:pPr>
            <a:r>
              <a:rPr lang="en-US" dirty="0"/>
              <a:t>0 → Student not admitted</a:t>
            </a:r>
          </a:p>
          <a:p>
            <a:r>
              <a:rPr lang="en-US" dirty="0"/>
              <a:t>Each row represents one applicant.</a:t>
            </a:r>
            <a:endParaRPr lang="en-MG" dirty="0"/>
          </a:p>
          <a:p>
            <a:r>
              <a:rPr lang="en-US" dirty="0" err="1"/>
              <a:t>X_train</a:t>
            </a:r>
            <a:r>
              <a:rPr lang="en-US" dirty="0"/>
              <a:t> contains exam scores on two exams for a student, </a:t>
            </a:r>
            <a:r>
              <a:rPr lang="en-US" dirty="0" err="1"/>
              <a:t>y_train</a:t>
            </a:r>
            <a:r>
              <a:rPr lang="en-US" dirty="0"/>
              <a:t> is the admission decision, </a:t>
            </a:r>
            <a:r>
              <a:rPr lang="en-US" dirty="0" err="1"/>
              <a:t>y_train</a:t>
            </a:r>
            <a:r>
              <a:rPr lang="en-US" dirty="0"/>
              <a:t> = 1 if the student was admitted, </a:t>
            </a:r>
            <a:r>
              <a:rPr lang="en-US" dirty="0" err="1"/>
              <a:t>y_train</a:t>
            </a:r>
            <a:r>
              <a:rPr lang="en-US" dirty="0"/>
              <a:t> = 0 if the student was not admitted</a:t>
            </a:r>
          </a:p>
          <a:p>
            <a:pPr latinLnBrk="1"/>
            <a:r>
              <a:rPr lang="en-US" dirty="0"/>
              <a:t>The shape of </a:t>
            </a:r>
            <a:r>
              <a:rPr lang="en-US" dirty="0" err="1"/>
              <a:t>X_train</a:t>
            </a:r>
            <a:r>
              <a:rPr lang="en-US" dirty="0"/>
              <a:t> is: (100, 2)</a:t>
            </a:r>
          </a:p>
          <a:p>
            <a:pPr marL="0" indent="0" latinLnBrk="1">
              <a:buNone/>
            </a:pPr>
            <a:r>
              <a:rPr lang="en-US" dirty="0"/>
              <a:t>The shape of </a:t>
            </a:r>
            <a:r>
              <a:rPr lang="en-US" dirty="0" err="1"/>
              <a:t>y_train</a:t>
            </a:r>
            <a:r>
              <a:rPr lang="en-US" dirty="0"/>
              <a:t> is: (100,)</a:t>
            </a:r>
          </a:p>
          <a:p>
            <a:pPr marL="0" indent="0" latinLnBrk="1">
              <a:buNone/>
            </a:pPr>
            <a:r>
              <a:rPr lang="en-US" dirty="0"/>
              <a:t>We have m = 100 training examples</a:t>
            </a:r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59315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5057-3BA0-1186-03B4-E069CD3E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G" dirty="0"/>
              <a:t>D</a:t>
            </a:r>
            <a:r>
              <a:rPr lang="en-US" dirty="0"/>
              <a:t>a</a:t>
            </a:r>
            <a:r>
              <a:rPr lang="en-MG" dirty="0"/>
              <a:t>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BAC1-68FE-65B1-0099-29FCB95B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training the model, the dataset is visualized.</a:t>
            </a:r>
          </a:p>
          <a:p>
            <a:endParaRPr lang="en-US" dirty="0"/>
          </a:p>
          <a:p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 Understand class distribution</a:t>
            </a:r>
          </a:p>
          <a:p>
            <a:pPr marL="0" indent="0">
              <a:buNone/>
            </a:pPr>
            <a:r>
              <a:rPr lang="en-US" dirty="0"/>
              <a:t>Observe separation between admitted and rejected students</a:t>
            </a:r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355203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35C1-2C2B-F6B0-91C1-431762CF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5495203"/>
          </a:xfrm>
        </p:spPr>
        <p:txBody>
          <a:bodyPr/>
          <a:lstStyle/>
          <a:p>
            <a:endParaRPr lang="en-M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3873-2824-B1C7-94BA-AF88A678B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75955"/>
            <a:ext cx="9905999" cy="5315246"/>
          </a:xfrm>
        </p:spPr>
        <p:txBody>
          <a:bodyPr/>
          <a:lstStyle/>
          <a:p>
            <a:r>
              <a:rPr lang="en-US" dirty="0"/>
              <a:t>Exam 1 vs Exam 2 with different markers for each class.</a:t>
            </a:r>
            <a:endParaRPr lang="en-MG" dirty="0"/>
          </a:p>
          <a:p>
            <a:r>
              <a:rPr lang="en-MG" dirty="0"/>
              <a:t>Here is the plot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25338-ABBC-3AA7-CD7A-042C2546E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48" y="2097088"/>
            <a:ext cx="6507125" cy="42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7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8FD0DD-D450-73D3-364C-BEA3D7CE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G" dirty="0"/>
              <a:t>L</a:t>
            </a:r>
            <a:r>
              <a:rPr lang="en-US" dirty="0"/>
              <a:t>o</a:t>
            </a:r>
            <a:r>
              <a:rPr lang="en-MG" dirty="0"/>
              <a:t>gistic regression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E62806-F403-04B1-0B7D-2D87DAE75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 is used for classification.</a:t>
            </a:r>
          </a:p>
          <a:p>
            <a:r>
              <a:rPr lang="en-US" dirty="0"/>
              <a:t>Instead of predicting a number directly,</a:t>
            </a:r>
          </a:p>
          <a:p>
            <a:r>
              <a:rPr lang="en-US" dirty="0"/>
              <a:t>It predicts the probability that an example belongs to class 1.</a:t>
            </a:r>
          </a:p>
          <a:p>
            <a:r>
              <a:rPr lang="en-US" dirty="0"/>
              <a:t>If probability ≥ 0.5 → predict admitted</a:t>
            </a:r>
          </a:p>
          <a:p>
            <a:r>
              <a:rPr lang="en-US" dirty="0"/>
              <a:t>If probability &lt; 0.5 → predict not admitted.</a:t>
            </a:r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117427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9384-2377-9671-819C-036A24E1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MG" dirty="0"/>
              <a:t>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65511-6079-EABA-73C7-B2F97DF4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6903"/>
            <a:ext cx="9905999" cy="3423684"/>
          </a:xfrm>
        </p:spPr>
        <p:txBody>
          <a:bodyPr>
            <a:normAutofit/>
          </a:bodyPr>
          <a:lstStyle/>
          <a:p>
            <a:r>
              <a:rPr lang="en-US" dirty="0"/>
              <a:t>Logistic Regression uses the sigmoid function.</a:t>
            </a:r>
          </a:p>
          <a:p>
            <a:r>
              <a:rPr lang="en-US" dirty="0"/>
              <a:t>It converts any real value into a probability between 0 and 1.</a:t>
            </a:r>
          </a:p>
          <a:p>
            <a:r>
              <a:rPr lang="en-US" dirty="0"/>
              <a:t>Interpretation:</a:t>
            </a:r>
          </a:p>
          <a:p>
            <a:r>
              <a:rPr lang="en-US" dirty="0"/>
              <a:t>Output close to 1 → high chance of admission</a:t>
            </a:r>
          </a:p>
          <a:p>
            <a:r>
              <a:rPr lang="en-US" dirty="0"/>
              <a:t>Output close to 0 → low chance of admission.</a:t>
            </a:r>
          </a:p>
          <a:p>
            <a:r>
              <a:rPr lang="en-US" dirty="0"/>
              <a:t>Here, sigmoid(0) = 0.5 and for a matrix : </a:t>
            </a:r>
          </a:p>
          <a:p>
            <a:endParaRPr lang="en-US" dirty="0"/>
          </a:p>
          <a:p>
            <a:endParaRPr lang="en-US" dirty="0"/>
          </a:p>
          <a:p>
            <a:endParaRPr lang="en-M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4EC896-A00C-A160-05A0-B36005B7D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51210"/>
              </p:ext>
            </p:extLst>
          </p:nvPr>
        </p:nvGraphicFramePr>
        <p:xfrm>
          <a:off x="1141413" y="5220589"/>
          <a:ext cx="9906000" cy="372138"/>
        </p:xfrm>
        <a:graphic>
          <a:graphicData uri="http://schemas.openxmlformats.org/drawingml/2006/table">
            <a:tbl>
              <a:tblPr/>
              <a:tblGrid>
                <a:gridCol w="4908513">
                  <a:extLst>
                    <a:ext uri="{9D8B030D-6E8A-4147-A177-3AD203B41FA5}">
                      <a16:colId xmlns:a16="http://schemas.microsoft.com/office/drawing/2014/main" val="117949739"/>
                    </a:ext>
                  </a:extLst>
                </a:gridCol>
                <a:gridCol w="4997487">
                  <a:extLst>
                    <a:ext uri="{9D8B030D-6E8A-4147-A177-3AD203B41FA5}">
                      <a16:colId xmlns:a16="http://schemas.microsoft.com/office/drawing/2014/main" val="860664795"/>
                    </a:ext>
                  </a:extLst>
                </a:gridCol>
              </a:tblGrid>
              <a:tr h="37213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 dirty="0">
                          <a:effectLst/>
                        </a:rPr>
                        <a:t>sigmoid([-1, 0, 1, 2])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MG" dirty="0">
                          <a:effectLst/>
                        </a:rPr>
                        <a:t>[0.26894142 0.5 0.73105858 0.88079708]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749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72A1-D98C-9FA1-F453-BB68B040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MG" dirty="0"/>
              <a:t>ost function for logistic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1F99-CE99-A4C0-41D0-1A4DFA878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model parameters are learned by minimizing a cost function.</a:t>
            </a:r>
          </a:p>
          <a:p>
            <a:r>
              <a:rPr lang="en-US" dirty="0"/>
              <a:t>Goal:</a:t>
            </a:r>
          </a:p>
          <a:p>
            <a:r>
              <a:rPr lang="en-US" dirty="0"/>
              <a:t>Reduce the difference between predicted probabilities and actual admission outcomes.</a:t>
            </a:r>
          </a:p>
          <a:p>
            <a:r>
              <a:rPr lang="en-US" dirty="0"/>
              <a:t>This ensures the model learns the best decision boundary.</a:t>
            </a:r>
          </a:p>
          <a:p>
            <a:r>
              <a:rPr lang="en-US" dirty="0"/>
              <a:t>Here, Cost at initial w (zeros): 0.693 and Cost at test </a:t>
            </a:r>
            <a:r>
              <a:rPr lang="en-US" dirty="0" err="1"/>
              <a:t>w,b</a:t>
            </a:r>
            <a:r>
              <a:rPr lang="en-US" dirty="0"/>
              <a:t>: 0.218</a:t>
            </a:r>
          </a:p>
          <a:p>
            <a:endParaRPr lang="en-US" dirty="0"/>
          </a:p>
          <a:p>
            <a:endParaRPr lang="en-US" dirty="0"/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406640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C484-D367-1FD6-022E-FA69250A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18978"/>
            <a:ext cx="9905998" cy="1307804"/>
          </a:xfrm>
        </p:spPr>
        <p:txBody>
          <a:bodyPr/>
          <a:lstStyle/>
          <a:p>
            <a:r>
              <a:rPr lang="en-US" dirty="0"/>
              <a:t>G</a:t>
            </a:r>
            <a:r>
              <a:rPr lang="en-MG" dirty="0"/>
              <a:t>radient descent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8EC2-63B4-7E39-42C9-2E4A98B55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9070"/>
            <a:ext cx="9905999" cy="52099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Parameters are optimized using Gradient Descent.</a:t>
            </a:r>
          </a:p>
          <a:p>
            <a:r>
              <a:rPr lang="en-US" dirty="0"/>
              <a:t>Steps:</a:t>
            </a:r>
          </a:p>
          <a:p>
            <a:pPr marL="0" indent="0">
              <a:buNone/>
            </a:pPr>
            <a:r>
              <a:rPr lang="en-US" dirty="0"/>
              <a:t>1. Initialize parameters</a:t>
            </a:r>
          </a:p>
          <a:p>
            <a:pPr marL="0" indent="0">
              <a:buNone/>
            </a:pPr>
            <a:r>
              <a:rPr lang="en-US" dirty="0"/>
              <a:t>2. Compute prediction</a:t>
            </a:r>
          </a:p>
          <a:p>
            <a:pPr marL="0" indent="0">
              <a:buNone/>
            </a:pPr>
            <a:r>
              <a:rPr lang="en-US" dirty="0"/>
              <a:t>3. Calculate cost</a:t>
            </a:r>
          </a:p>
          <a:p>
            <a:pPr marL="0" indent="0">
              <a:buNone/>
            </a:pPr>
            <a:r>
              <a:rPr lang="en-US" dirty="0"/>
              <a:t>4. Update parameters iteratively</a:t>
            </a:r>
          </a:p>
          <a:p>
            <a:r>
              <a:rPr lang="en-US" dirty="0"/>
              <a:t>The process continues until the cost is minimized.</a:t>
            </a:r>
          </a:p>
          <a:p>
            <a:pPr latinLnBrk="1"/>
            <a:r>
              <a:rPr lang="en-US" dirty="0"/>
              <a:t>Here, </a:t>
            </a:r>
            <a:r>
              <a:rPr lang="en-US" dirty="0" err="1"/>
              <a:t>dj_db</a:t>
            </a:r>
            <a:r>
              <a:rPr lang="en-US" dirty="0"/>
              <a:t> at initial w (zeros):-0.1 </a:t>
            </a:r>
          </a:p>
          <a:p>
            <a:pPr marL="0" indent="0" latinLnBrk="1">
              <a:buNone/>
            </a:pPr>
            <a:r>
              <a:rPr lang="en-US" dirty="0"/>
              <a:t> </a:t>
            </a:r>
            <a:r>
              <a:rPr lang="en-US" dirty="0" err="1"/>
              <a:t>dj_dw</a:t>
            </a:r>
            <a:r>
              <a:rPr lang="en-US" dirty="0"/>
              <a:t> at initial w (zeros):[-12.00921658929115, -11.262842205513591] and </a:t>
            </a:r>
          </a:p>
          <a:p>
            <a:pPr marL="0" indent="0" latinLnBrk="1">
              <a:buNone/>
            </a:pPr>
            <a:r>
              <a:rPr lang="en-US" dirty="0" err="1"/>
              <a:t>dj_db</a:t>
            </a:r>
            <a:r>
              <a:rPr lang="en-US" dirty="0"/>
              <a:t> at </a:t>
            </a:r>
            <a:r>
              <a:rPr lang="en-US" dirty="0" err="1"/>
              <a:t>test_w</a:t>
            </a:r>
            <a:r>
              <a:rPr lang="en-US" dirty="0"/>
              <a:t>: -0.5999999999991071</a:t>
            </a:r>
          </a:p>
          <a:p>
            <a:pPr marL="0" indent="0" latinLnBrk="1">
              <a:buNone/>
            </a:pPr>
            <a:r>
              <a:rPr lang="en-US" dirty="0" err="1"/>
              <a:t>dj_dw</a:t>
            </a:r>
            <a:r>
              <a:rPr lang="en-US" dirty="0"/>
              <a:t> at </a:t>
            </a:r>
            <a:r>
              <a:rPr lang="en-US" dirty="0" err="1"/>
              <a:t>test_w</a:t>
            </a:r>
            <a:r>
              <a:rPr lang="en-US" dirty="0"/>
              <a:t>: [-44.831353617873795, -44.37384124953978]</a:t>
            </a:r>
          </a:p>
          <a:p>
            <a:pPr marL="0" indent="0" latinLnBrk="1">
              <a:buNone/>
            </a:pPr>
            <a:endParaRPr lang="en-US" dirty="0"/>
          </a:p>
          <a:p>
            <a:endParaRPr lang="en-US" dirty="0"/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260306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1736-B12D-3F97-AE9B-91841D34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MG" dirty="0"/>
              <a:t>ecision boundary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F13B-45C1-47F1-7085-78C40CB4D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trained model produces a decision boundary.</a:t>
            </a:r>
          </a:p>
          <a:p>
            <a:endParaRPr lang="en-US" dirty="0"/>
          </a:p>
          <a:p>
            <a:r>
              <a:rPr lang="en-US" dirty="0"/>
              <a:t>This boundary separates:</a:t>
            </a:r>
          </a:p>
          <a:p>
            <a:pPr marL="0" indent="0">
              <a:buNone/>
            </a:pPr>
            <a:r>
              <a:rPr lang="en-US" dirty="0"/>
              <a:t>Admitted students</a:t>
            </a:r>
          </a:p>
          <a:p>
            <a:pPr marL="0" indent="0">
              <a:buNone/>
            </a:pPr>
            <a:r>
              <a:rPr lang="en-US" dirty="0"/>
              <a:t> Non‑admitted students</a:t>
            </a:r>
          </a:p>
          <a:p>
            <a:endParaRPr lang="en-US" dirty="0"/>
          </a:p>
          <a:p>
            <a:r>
              <a:rPr lang="en-US" dirty="0"/>
              <a:t>It is plotted on the Exam1 vs Exam2 graph.</a:t>
            </a:r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93275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6133-DAF1-B771-2580-29D4A80F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41413" y="0"/>
            <a:ext cx="9905998" cy="81871"/>
          </a:xfrm>
        </p:spPr>
        <p:txBody>
          <a:bodyPr>
            <a:normAutofit fontScale="90000"/>
          </a:bodyPr>
          <a:lstStyle/>
          <a:p>
            <a:endParaRPr lang="en-M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CAF0-186B-059E-A3D1-6A61A415F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76446"/>
            <a:ext cx="9905999" cy="5514755"/>
          </a:xfrm>
        </p:spPr>
        <p:txBody>
          <a:bodyPr/>
          <a:lstStyle/>
          <a:p>
            <a:r>
              <a:rPr lang="en-MG" dirty="0"/>
              <a:t>H</a:t>
            </a:r>
            <a:r>
              <a:rPr lang="en-US" dirty="0"/>
              <a:t>e</a:t>
            </a:r>
            <a:r>
              <a:rPr lang="en-MG" dirty="0"/>
              <a:t>re is the plot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53F54-F83D-419F-CCB5-E5FDA18F1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60" y="1357423"/>
            <a:ext cx="4762500" cy="41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24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FD01-5108-06F2-C6BC-5AD47AC1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MG" dirty="0"/>
              <a:t>odel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0B62-E707-7C87-2B86-60A4EC1D0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training, the model is evaluated.</a:t>
            </a:r>
          </a:p>
          <a:p>
            <a:r>
              <a:rPr lang="en-US" dirty="0"/>
              <a:t>Key metric:</a:t>
            </a:r>
          </a:p>
          <a:p>
            <a:pPr marL="0" indent="0">
              <a:buNone/>
            </a:pPr>
            <a:r>
              <a:rPr lang="en-US" dirty="0"/>
              <a:t>Accuracy = Correct predictions / Total predictions</a:t>
            </a:r>
          </a:p>
          <a:p>
            <a:r>
              <a:rPr lang="en-US" dirty="0"/>
              <a:t>Good performance means the model correctly predicts</a:t>
            </a:r>
          </a:p>
          <a:p>
            <a:pPr marL="0" indent="0">
              <a:buNone/>
            </a:pPr>
            <a:r>
              <a:rPr lang="en-US" dirty="0"/>
              <a:t>student admission based on exam scores.</a:t>
            </a:r>
          </a:p>
          <a:p>
            <a:r>
              <a:rPr lang="en-US" dirty="0"/>
              <a:t>The Train Accuracy: 92.000000</a:t>
            </a:r>
          </a:p>
          <a:p>
            <a:endParaRPr lang="en-US" dirty="0"/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62165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2A7E-A813-D41B-B4A6-7A757D45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488"/>
            <a:ext cx="9905998" cy="1658679"/>
          </a:xfrm>
        </p:spPr>
        <p:txBody>
          <a:bodyPr/>
          <a:lstStyle/>
          <a:p>
            <a:r>
              <a:rPr lang="en-US" dirty="0"/>
              <a:t> Regularized Logistic Regression</a:t>
            </a:r>
            <a:br>
              <a:rPr lang="en-US" dirty="0"/>
            </a:br>
            <a:endParaRPr lang="en-M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0D73-5D88-5352-FEDF-206B84A82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99192"/>
            <a:ext cx="9905999" cy="528438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Problem Statement</a:t>
            </a:r>
          </a:p>
          <a:p>
            <a:pPr marL="0" indent="0">
              <a:buNone/>
            </a:pPr>
            <a:r>
              <a:rPr lang="en-US" dirty="0"/>
              <a:t>We are the product manager of the factory and you have the test results for some microchips on two different tests.</a:t>
            </a:r>
          </a:p>
          <a:p>
            <a:pPr marL="0" indent="0">
              <a:buNone/>
            </a:pPr>
            <a:r>
              <a:rPr lang="en-US" dirty="0"/>
              <a:t>From these two tests, we would like to determine whether the microchips should be accepted or rejected.</a:t>
            </a:r>
          </a:p>
          <a:p>
            <a:pPr marL="0" indent="0">
              <a:buNone/>
            </a:pPr>
            <a:r>
              <a:rPr lang="en-US" dirty="0"/>
              <a:t>To help to make the decision, we have a dataset of test results on past microchips, from which we can build a logistic regression model.</a:t>
            </a:r>
          </a:p>
          <a:p>
            <a:pPr latinLnBrk="1"/>
            <a:r>
              <a:rPr lang="en-US" dirty="0"/>
              <a:t>Here, The shape of </a:t>
            </a:r>
            <a:r>
              <a:rPr lang="en-US" dirty="0" err="1"/>
              <a:t>X_train</a:t>
            </a:r>
            <a:r>
              <a:rPr lang="en-US" dirty="0"/>
              <a:t> is: (118, 2)</a:t>
            </a:r>
          </a:p>
          <a:p>
            <a:pPr latinLnBrk="1"/>
            <a:r>
              <a:rPr lang="en-US" dirty="0"/>
              <a:t>The shape of </a:t>
            </a:r>
            <a:r>
              <a:rPr lang="en-US" dirty="0" err="1"/>
              <a:t>y_train</a:t>
            </a:r>
            <a:r>
              <a:rPr lang="en-US" dirty="0"/>
              <a:t> is: (118,)</a:t>
            </a:r>
          </a:p>
          <a:p>
            <a:pPr latinLnBrk="1"/>
            <a:r>
              <a:rPr lang="en-US" dirty="0"/>
              <a:t>We have m = 118 training examples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158608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532-61CA-283C-6EDF-7A00E3F4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542261"/>
            <a:ext cx="9905998" cy="223283"/>
          </a:xfrm>
        </p:spPr>
        <p:txBody>
          <a:bodyPr>
            <a:normAutofit fontScale="90000"/>
          </a:bodyPr>
          <a:lstStyle/>
          <a:p>
            <a:endParaRPr lang="en-M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34FF-C495-DAE8-A78F-CDEED9AC3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44549"/>
            <a:ext cx="9905999" cy="5546652"/>
          </a:xfrm>
        </p:spPr>
        <p:txBody>
          <a:bodyPr/>
          <a:lstStyle/>
          <a:p>
            <a:r>
              <a:rPr lang="en-MG" dirty="0"/>
              <a:t>The plot : </a:t>
            </a:r>
          </a:p>
          <a:p>
            <a:endParaRPr lang="en-M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991CF-9C09-8D00-F0F4-F68A1E1F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056" y="1307805"/>
            <a:ext cx="6251944" cy="491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8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7921-4A50-E1FF-14DB-542F810A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41413" y="-148856"/>
            <a:ext cx="9905998" cy="340242"/>
          </a:xfrm>
        </p:spPr>
        <p:txBody>
          <a:bodyPr>
            <a:normAutofit fontScale="90000"/>
          </a:bodyPr>
          <a:lstStyle/>
          <a:p>
            <a:endParaRPr lang="en-M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EE43-FBA2-2E87-5E31-B585BF256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1386"/>
            <a:ext cx="9905999" cy="5599815"/>
          </a:xfrm>
        </p:spPr>
        <p:txBody>
          <a:bodyPr/>
          <a:lstStyle/>
          <a:p>
            <a:r>
              <a:rPr lang="en-US" dirty="0"/>
              <a:t>Plotting the decision boundary</a:t>
            </a:r>
          </a:p>
          <a:p>
            <a:endParaRPr lang="en-M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849DC-AB12-79C7-A3D1-372B40D5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386" y="1265273"/>
            <a:ext cx="6368902" cy="440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55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D6C3-F64B-6987-FE9C-B6AF6A41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</a:t>
            </a:r>
            <a:r>
              <a:rPr lang="en-MG" dirty="0"/>
              <a:t>nterpretation of results and train accuracy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231A-45A6-A2E2-C176-3E7E06CFB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  <a:p>
            <a:pPr marL="0" indent="0">
              <a:buNone/>
            </a:pPr>
            <a:r>
              <a:rPr lang="en-US" dirty="0"/>
              <a:t> Higher exam scores increase admission probability</a:t>
            </a:r>
          </a:p>
          <a:p>
            <a:pPr marL="0" indent="0">
              <a:buNone/>
            </a:pPr>
            <a:r>
              <a:rPr lang="en-US" dirty="0"/>
              <a:t> Logistic regression provides interpretable results</a:t>
            </a:r>
          </a:p>
          <a:p>
            <a:pPr marL="0" indent="0">
              <a:buNone/>
            </a:pPr>
            <a:r>
              <a:rPr lang="en-US" dirty="0"/>
              <a:t> The model learns a linear decision boundary.</a:t>
            </a:r>
          </a:p>
          <a:p>
            <a:r>
              <a:rPr lang="en-US" dirty="0"/>
              <a:t>Train Accuracy: 82.203390</a:t>
            </a:r>
          </a:p>
          <a:p>
            <a:endParaRPr lang="en-US" dirty="0"/>
          </a:p>
          <a:p>
            <a:endParaRPr lang="en-US" dirty="0"/>
          </a:p>
          <a:p>
            <a:endParaRPr lang="en-MG" dirty="0"/>
          </a:p>
        </p:txBody>
      </p:sp>
    </p:spTree>
    <p:extLst>
      <p:ext uri="{BB962C8B-B14F-4D97-AF65-F5344CB8AC3E}">
        <p14:creationId xmlns:p14="http://schemas.microsoft.com/office/powerpoint/2010/main" val="1006351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F1D7-617D-0AFA-E7D8-09F8CF50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4883"/>
            <a:ext cx="9905998" cy="33067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</a:t>
            </a:r>
            <a:r>
              <a:rPr lang="en-MG" dirty="0"/>
              <a:t>hank you !</a:t>
            </a:r>
          </a:p>
        </p:txBody>
      </p:sp>
    </p:spTree>
    <p:extLst>
      <p:ext uri="{BB962C8B-B14F-4D97-AF65-F5344CB8AC3E}">
        <p14:creationId xmlns:p14="http://schemas.microsoft.com/office/powerpoint/2010/main" val="376094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84</TotalTime>
  <Words>753</Words>
  <Application>Microsoft Macintosh PowerPoint</Application>
  <PresentationFormat>Widescreen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Tw Cen MT</vt:lpstr>
      <vt:lpstr>Circuit</vt:lpstr>
      <vt:lpstr>Student Admission </vt:lpstr>
      <vt:lpstr>Context and problem</vt:lpstr>
      <vt:lpstr>data descriptions </vt:lpstr>
      <vt:lpstr>PowerPoint Presentation</vt:lpstr>
      <vt:lpstr>Data visualization</vt:lpstr>
      <vt:lpstr>PowerPoint Presentation</vt:lpstr>
      <vt:lpstr>Logistic regression model</vt:lpstr>
      <vt:lpstr>Sigmoid function</vt:lpstr>
      <vt:lpstr>Cost function for logistic regression </vt:lpstr>
      <vt:lpstr>Gradient descent training</vt:lpstr>
      <vt:lpstr>Decision boundary </vt:lpstr>
      <vt:lpstr>PowerPoint Presentation</vt:lpstr>
      <vt:lpstr>Model evaluation </vt:lpstr>
      <vt:lpstr> Regularized Logistic Regression </vt:lpstr>
      <vt:lpstr>PowerPoint Presentation</vt:lpstr>
      <vt:lpstr>PowerPoint Presentation</vt:lpstr>
      <vt:lpstr>Interpretation of results and train accuracy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rantyandriatsimatahomanana@gmail.com</dc:creator>
  <cp:lastModifiedBy>rantyandriatsimatahomanana@gmail.com</cp:lastModifiedBy>
  <cp:revision>1</cp:revision>
  <dcterms:created xsi:type="dcterms:W3CDTF">2026-03-12T17:01:13Z</dcterms:created>
  <dcterms:modified xsi:type="dcterms:W3CDTF">2026-03-12T18:26:03Z</dcterms:modified>
</cp:coreProperties>
</file>